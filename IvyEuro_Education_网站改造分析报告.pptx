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58368"/>
            <a:ext cx="2834640" cy="438912"/>
          </a:xfrm>
          <a:prstGeom prst="round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官网改造 / 内容迁移 / PPT汇报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8046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</a:rPr>
              <a:t>IvyEuro Education
网站改造分析报告</a:t>
            </a:r>
          </a:p>
          <a:p>
            <a:pPr>
              <a:spcBef>
                <a:spcPts val="1200"/>
              </a:spcBef>
            </a:pPr>
            <a:r>
              <a:rPr sz="1400">
                <a:solidFill>
                  <a:srgbClr val="CCD6E0"/>
                </a:solidFill>
                <a:latin typeface="Microsoft YaHei"/>
              </a:rPr>
              <a:t>从老站内容迁移到多页面招生官网，完成首页、课程、新闻、联系与移动端体验重构。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0"/>
            <a:ext cx="51206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250">
                <a:solidFill>
                  <a:srgbClr val="E1E8F1"/>
                </a:solidFill>
                <a:latin typeface="Microsoft YaHei"/>
              </a:rPr>
              <a:t>项目地址：guoyunyi0417-hue / ivy-euro-education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E1E8F1"/>
                </a:solidFill>
                <a:latin typeface="Microsoft YaHei"/>
              </a:rPr>
              <a:t>报告日期：2026-06-02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E1E8F1"/>
                </a:solidFill>
                <a:latin typeface="Microsoft YaHei"/>
              </a:rPr>
              <a:t>重点：内容迁移、视觉升级、联系方式统一</a:t>
            </a:r>
          </a:p>
        </p:txBody>
      </p:sp>
      <p:sp>
        <p:nvSpPr>
          <p:cNvPr id="6" name="Oval 5"/>
          <p:cNvSpPr/>
          <p:nvPr/>
        </p:nvSpPr>
        <p:spPr>
          <a:xfrm>
            <a:off x="8458200" y="914400"/>
            <a:ext cx="2057400" cy="2057400"/>
          </a:xfrm>
          <a:prstGeom prst="ellipse">
            <a:avLst/>
          </a:prstGeom>
          <a:solidFill>
            <a:srgbClr val="121F34"/>
          </a:solidFill>
          <a:ln w="19050"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Barcelonа
Online School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3703320"/>
            <a:ext cx="3474720" cy="1508760"/>
          </a:xfrm>
          <a:prstGeom prst="roundRect">
            <a:avLst/>
          </a:prstGeom>
          <a:solidFill>
            <a:srgbClr val="121F34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18120" y="3703320"/>
            <a:ext cx="109728" cy="1508760"/>
          </a:xfrm>
          <a:prstGeom prst="rect">
            <a:avLst/>
          </a:prstGeom>
          <a:solidFill>
            <a:srgbClr val="19C4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3867911"/>
            <a:ext cx="3108960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2033"/>
                </a:solidFill>
                <a:latin typeface="Microsoft YaHei"/>
              </a:rPr>
              <a:t>改造关键词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多页面结构 · 招生官网 · 课程表 · 新闻动态 · 微信 / WhatsApp 联系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项目概况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页面化结构 + 信息重组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为什么要改造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旧站内容有价值，但结构过散、视觉较旧、转化入口不统一。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544068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109728" cy="4526280"/>
          </a:xfrm>
          <a:prstGeom prst="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39112"/>
            <a:ext cx="507492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原站主要问题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41448"/>
            <a:ext cx="5029200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信息分散，首页与栏目缺少统一导航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老师、新闻、好评页多为占位式内容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暑期课表适合短期展示，不适合长期压在首页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联系入口偏弱，缺少微信 / WhatsApp 的明确动作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874519"/>
            <a:ext cx="544068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874519"/>
            <a:ext cx="109728" cy="452628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039112"/>
            <a:ext cx="507492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改造目标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441448"/>
            <a:ext cx="5029200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把老内容迁移成可持续更新的招生官网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首页突出课程、咨询、课程表和转化入口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让新闻和课程形成独立栏目，便于后续维护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补齐微信、WhatsApp、二维码和表单等联系路径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网站结构图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从单页展示升级为多页面官网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页面结构关系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首页是转化入口，栏目页负责内容承接，新闻详情用于深度阅读。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783080"/>
            <a:ext cx="2697480" cy="658368"/>
          </a:xfrm>
          <a:prstGeom prst="roundRect">
            <a:avLst/>
          </a:prstGeom>
          <a:solidFill>
            <a:srgbClr val="EBF3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400" b="1">
                <a:solidFill>
                  <a:srgbClr val="102033"/>
                </a:solidFill>
                <a:latin typeface="Microsoft YaHei"/>
              </a:rPr>
              <a:t>首页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服务项目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207007" y="2441448"/>
            <a:ext cx="4828033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24028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关于我们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898648" y="2441448"/>
            <a:ext cx="3136392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93192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老师简介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4590288" y="2441448"/>
            <a:ext cx="1444752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2356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课程表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35040" y="2441448"/>
            <a:ext cx="246888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1520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家长好评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35040" y="2441448"/>
            <a:ext cx="1938528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00684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新闻动态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35040" y="2441448"/>
            <a:ext cx="3630168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698480" y="2743200"/>
            <a:ext cx="13258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联系我们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2441448"/>
            <a:ext cx="5321808" cy="301752"/>
          </a:xfrm>
          <a:prstGeom prst="line">
            <a:avLst/>
          </a:prstGeom>
          <a:ln w="20320">
            <a:solidFill>
              <a:srgbClr val="919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44000" y="3886200"/>
            <a:ext cx="1783080" cy="566928"/>
          </a:xfrm>
          <a:prstGeom prst="roundRect">
            <a:avLst/>
          </a:prstGeom>
          <a:solidFill>
            <a:srgbClr val="EEFAF5"/>
          </a:solidFill>
          <a:ln>
            <a:solidFill>
              <a:srgbClr val="22A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新闻详情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692640" y="3337560"/>
            <a:ext cx="320040" cy="548640"/>
          </a:xfrm>
          <a:prstGeom prst="line">
            <a:avLst/>
          </a:prstGeom>
          <a:ln w="20320">
            <a:solidFill>
              <a:srgbClr val="22A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85800" y="4892040"/>
            <a:ext cx="10881360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102033"/>
                </a:solidFill>
                <a:latin typeface="Microsoft YaHei"/>
              </a:rPr>
              <a:t>结构原则：长期稳定信息放在首页和栏目页，季节性内容放在课程表 / 公告位，新闻栏目支持后续持续更新。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老资料内容评估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保留 / 替换 / 补强 / 删除四类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内容处置图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先保留业务信息，再替换模板句，最后补强真实案例。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5257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828800"/>
            <a:ext cx="109728" cy="169164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2"/>
            <a:ext cx="4892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02033"/>
                </a:solidFill>
                <a:latin typeface="Microsoft YaHei"/>
              </a:rPr>
              <a:t>保留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机构名称、地址、电话、营业时间
课程大类、微信 / WhatsApp、二维码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257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828800"/>
            <a:ext cx="109728" cy="1691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993392"/>
            <a:ext cx="4892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02033"/>
                </a:solidFill>
                <a:latin typeface="Microsoft YaHei"/>
              </a:rPr>
              <a:t>替换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老师占位卡、家长好评模板句
新闻/文章标题、长期首页暑期大块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160520"/>
            <a:ext cx="5257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4160520"/>
            <a:ext cx="109728" cy="1691640"/>
          </a:xfrm>
          <a:prstGeom prst="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25112"/>
            <a:ext cx="4892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02033"/>
                </a:solidFill>
                <a:latin typeface="Microsoft YaHei"/>
              </a:rPr>
              <a:t>补强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真实老师介绍、真实家长评价
学习成果、活动照片、真实通知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160520"/>
            <a:ext cx="5257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4160520"/>
            <a:ext cx="109728" cy="16916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4325112"/>
            <a:ext cx="4892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02033"/>
                </a:solidFill>
                <a:latin typeface="Microsoft YaHei"/>
              </a:rPr>
              <a:t>删除 / 临时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过期的暑期公告、首页大块课表
没有实际内容支撑的草稿句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989320"/>
            <a:ext cx="10881360" cy="502920"/>
          </a:xfrm>
          <a:prstGeom prst="roundRect">
            <a:avLst/>
          </a:prstGeom>
          <a:solidFill>
            <a:srgbClr val="F2F6FA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>
                <a:solidFill>
                  <a:srgbClr val="102033"/>
                </a:solidFill>
                <a:latin typeface="Microsoft YaHei"/>
              </a:rPr>
              <a:t>判断标准：有事实依据的保留，有营销价值的润色，没有实际内容支撑的占位句要替换。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首页优势图示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视觉升级 + 转化入口 + 季节公告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新首页的优势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首页不再只是信息堆砌，而是能承接咨询和转化。</a:t>
            </a:r>
          </a:p>
        </p:txBody>
      </p:sp>
      <p:pic>
        <p:nvPicPr>
          <p:cNvPr id="6" name="Picture 5" descr="hom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812280" cy="420090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43800" y="1783080"/>
            <a:ext cx="3977639" cy="1143000"/>
          </a:xfrm>
          <a:prstGeom prst="roundRect">
            <a:avLst/>
          </a:prstGeom>
          <a:solidFill>
            <a:srgbClr val="F4F7FB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783080"/>
            <a:ext cx="109728" cy="1143000"/>
          </a:xfrm>
          <a:prstGeom prst="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947672"/>
            <a:ext cx="36118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2033"/>
                </a:solidFill>
                <a:latin typeface="Microsoft YaHei"/>
              </a:rPr>
              <a:t>优势 1：首屏更清晰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把学校定位、课程亮点、免费测试和联系入口集中到首页首屏。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3063240"/>
            <a:ext cx="3977639" cy="1143000"/>
          </a:xfrm>
          <a:prstGeom prst="roundRect">
            <a:avLst/>
          </a:prstGeom>
          <a:solidFill>
            <a:srgbClr val="F4F7FB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3063240"/>
            <a:ext cx="109728" cy="114300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3227832"/>
            <a:ext cx="36118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2033"/>
                </a:solidFill>
                <a:latin typeface="Microsoft YaHei"/>
              </a:rPr>
              <a:t>优势 2：视觉更像官网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通过大图、卡片和统一配色，形成更强的机构品牌感。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4343400"/>
            <a:ext cx="3977639" cy="1143000"/>
          </a:xfrm>
          <a:prstGeom prst="roundRect">
            <a:avLst/>
          </a:prstGeom>
          <a:solidFill>
            <a:srgbClr val="F4F7FB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43800" y="4343400"/>
            <a:ext cx="109728" cy="1143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4507992"/>
            <a:ext cx="36118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2033"/>
                </a:solidFill>
                <a:latin typeface="Microsoft YaHei"/>
              </a:rPr>
              <a:t>优势 3：临时内容可自动消失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暑期班只做季节公告，到期后自动隐藏，不污染首页长期信息。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5623560"/>
            <a:ext cx="3977639" cy="868680"/>
          </a:xfrm>
          <a:prstGeom prst="roundRect">
            <a:avLst/>
          </a:prstGeom>
          <a:solidFill>
            <a:srgbClr val="F4F7FB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43800" y="5623560"/>
            <a:ext cx="109728" cy="868680"/>
          </a:xfrm>
          <a:prstGeom prst="rect">
            <a:avLst/>
          </a:prstGeom>
          <a:solidFill>
            <a:srgbClr val="19C4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5788152"/>
            <a:ext cx="3611879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02033"/>
                </a:solidFill>
                <a:latin typeface="Microsoft YaHei"/>
              </a:rPr>
              <a:t>优势 4：移动端体验更统一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A6B7F"/>
                </a:solidFill>
                <a:latin typeface="Microsoft YaHei"/>
              </a:rPr>
              <a:t>导航、联系方式、新闻栏目都支持手机浏览。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联系通道图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微信优先，WhatsApp 备用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家长如何联系学校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把核心联系方式做成明确入口，减少家长的操作成本。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965960" cy="731520"/>
          </a:xfrm>
          <a:prstGeom prst="roundRect">
            <a:avLst/>
          </a:prstGeom>
          <a:solidFill>
            <a:srgbClr val="F1FAF1"/>
          </a:solidFill>
          <a:ln>
            <a:solidFill>
              <a:srgbClr val="22A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微信昵称
IvyEuro学校刘老师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2148840"/>
            <a:ext cx="1828800" cy="731520"/>
          </a:xfrm>
          <a:prstGeom prst="roundRect">
            <a:avLst/>
          </a:prstGeom>
          <a:solidFill>
            <a:srgbClr val="F1FAF1"/>
          </a:solidFill>
          <a:ln>
            <a:solidFill>
              <a:srgbClr val="22A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微信号
sophialiu0826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2148840"/>
            <a:ext cx="1463040" cy="731520"/>
          </a:xfrm>
          <a:prstGeom prst="roundRect">
            <a:avLst/>
          </a:prstGeom>
          <a:solidFill>
            <a:srgbClr val="F1FAF1"/>
          </a:solidFill>
          <a:ln>
            <a:solidFill>
              <a:srgbClr val="22A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二维码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2148840"/>
            <a:ext cx="1737360" cy="731520"/>
          </a:xfrm>
          <a:prstGeom prst="roundRect">
            <a:avLst/>
          </a:prstGeom>
          <a:solidFill>
            <a:srgbClr val="F0F9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WhatsApp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2148840"/>
            <a:ext cx="1554480" cy="731520"/>
          </a:xfrm>
          <a:prstGeom prst="roundRect">
            <a:avLst/>
          </a:prstGeom>
          <a:solidFill>
            <a:srgbClr val="F0F9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电话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148840"/>
            <a:ext cx="1051560" cy="731520"/>
          </a:xfrm>
          <a:prstGeom prst="roundRect">
            <a:avLst/>
          </a:prstGeom>
          <a:solidFill>
            <a:srgbClr val="F0F9FF"/>
          </a:solidFill>
          <a:ln>
            <a:solidFill>
              <a:srgbClr val="1B6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200" b="1">
                <a:solidFill>
                  <a:srgbClr val="102033"/>
                </a:solidFill>
                <a:latin typeface="Microsoft YaHei"/>
              </a:rPr>
              <a:t>表单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" y="2514600"/>
            <a:ext cx="256032" cy="0"/>
          </a:xfrm>
          <a:prstGeom prst="line">
            <a:avLst/>
          </a:prstGeom>
          <a:ln w="20320">
            <a:solidFill>
              <a:srgbClr val="22A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54880" y="2514600"/>
            <a:ext cx="256032" cy="0"/>
          </a:xfrm>
          <a:prstGeom prst="line">
            <a:avLst/>
          </a:prstGeom>
          <a:ln w="20320">
            <a:solidFill>
              <a:srgbClr val="22A3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92240" y="2514600"/>
            <a:ext cx="201168" cy="0"/>
          </a:xfrm>
          <a:prstGeom prst="line">
            <a:avLst/>
          </a:prstGeom>
          <a:ln w="20320">
            <a:solidFill>
              <a:srgbClr val="1B6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503920" y="2514600"/>
            <a:ext cx="201168" cy="0"/>
          </a:xfrm>
          <a:prstGeom prst="line">
            <a:avLst/>
          </a:prstGeom>
          <a:ln w="20320">
            <a:solidFill>
              <a:srgbClr val="1B6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241280" y="2514600"/>
            <a:ext cx="201168" cy="0"/>
          </a:xfrm>
          <a:prstGeom prst="line">
            <a:avLst/>
          </a:prstGeom>
          <a:ln w="20320">
            <a:solidFill>
              <a:srgbClr val="1B6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3246120"/>
            <a:ext cx="365760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246120"/>
            <a:ext cx="109728" cy="246888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410712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联系方式建议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813048"/>
            <a:ext cx="324612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微信作为主入口，适合家长快速沟通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WhatsApp 作为备用通道，适合海外家长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二维码用于扫码加好友，减少跳转成本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26280" y="3246120"/>
            <a:ext cx="365760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26280" y="3246120"/>
            <a:ext cx="109728" cy="2468880"/>
          </a:xfrm>
          <a:prstGeom prst="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3410712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页面呈现方式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813048"/>
            <a:ext cx="324612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首页底部做快捷按钮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联系页放完整说明与二维码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提交预约后提示优先通过微信 / WhatsApp 联系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66760" y="3246120"/>
            <a:ext cx="31089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66760" y="3246120"/>
            <a:ext cx="109728" cy="2468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0" y="3410712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2033"/>
                </a:solidFill>
                <a:latin typeface="Microsoft YaHei"/>
              </a:rPr>
              <a:t>当前已填信息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微信昵称：IvyEuro学校刘老师
微信号：sophialiu0826
WhatsApp：+34-625-627-022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待补强内容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哪些内容还需要真实材料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后续优先级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现在结构已齐，下一步重点是把模板句换成真实内容。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27432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109728" cy="1417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2377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优先级高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老师真实照片、真实资历、擅长科目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828800"/>
            <a:ext cx="27432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11880" y="1828800"/>
            <a:ext cx="109728" cy="1417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1993392"/>
            <a:ext cx="2377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优先级高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家长真实评价、案例、学习前后对比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828800"/>
            <a:ext cx="27432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828800"/>
            <a:ext cx="109728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1993392"/>
            <a:ext cx="2377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优先级中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新闻动态、活动通知、开班消息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64040" y="182880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64040" y="1828800"/>
            <a:ext cx="109728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0" y="1993392"/>
            <a:ext cx="1691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优先级中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课程成果表达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657600"/>
            <a:ext cx="54406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3657600"/>
            <a:ext cx="109728" cy="2103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822191"/>
            <a:ext cx="507492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建议替换的占位句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224528"/>
            <a:ext cx="5029200" cy="14173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“这里可以展示……”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“可用于展示……”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“后续可继续补充……”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3657600"/>
            <a:ext cx="52120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3657600"/>
            <a:ext cx="109728" cy="210312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3822191"/>
            <a:ext cx="484632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建议保留的真实信息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224528"/>
            <a:ext cx="4800600" cy="14173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机构名、地址、电话、营业时间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课程大类与联系方式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课程表页和联系页结构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微信数据模板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只记业务字段，不存完整聊天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咨询记录与隐私规则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微信是主入口，但真正要沉淀的是结构化摘要，不是聊天原文。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370332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828800"/>
            <a:ext cx="109728" cy="224028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2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咨询记录字段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95728"/>
            <a:ext cx="3291839" cy="1554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时间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微信昵称 / 微信号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来源页面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课程方向、年级、需求摘要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828800"/>
            <a:ext cx="370332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828800"/>
            <a:ext cx="109728" cy="2240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93392"/>
            <a:ext cx="33375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隐私规则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395728"/>
            <a:ext cx="3291839" cy="1554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不存完整聊天原文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不长期保留截图和语音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孩子学校、班级等敏感信息少存或匿名化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828800"/>
            <a:ext cx="324612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828800"/>
            <a:ext cx="109728" cy="2240280"/>
          </a:xfrm>
          <a:prstGeom prst="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993392"/>
            <a:ext cx="28803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每周复盘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395728"/>
            <a:ext cx="2834639" cy="1554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哪个课程最多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哪个入口最有效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微信 / WhatsApp 谁转化更高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389120"/>
            <a:ext cx="1097280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4389120"/>
            <a:ext cx="109728" cy="1051560"/>
          </a:xfrm>
          <a:prstGeom prst="rect">
            <a:avLst/>
          </a:prstGeom>
          <a:solidFill>
            <a:srgbClr val="19C4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553712"/>
            <a:ext cx="1060704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最实用的原则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A6B7F"/>
                </a:solidFill>
                <a:latin typeface="Microsoft YaHei"/>
              </a:rPr>
              <a:t>记录结果，不记录过程；保留摘要，不保留全文；看汇总，不看隐私原文。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623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50">
                <a:solidFill>
                  <a:srgbClr val="5A6B7F"/>
                </a:solidFill>
                <a:latin typeface="Microsoft YaHei"/>
              </a:rPr>
              <a:t>建议形式：Excel / Google Sheet / 企业微信后续接入。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微信记录模板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可直接复制使用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咨询记录与示例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把咨询记录统一成结构化字段，方便后续统计和复盘。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3749039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828800"/>
            <a:ext cx="109728" cy="2331720"/>
          </a:xfrm>
          <a:prstGeom prst="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2"/>
            <a:ext cx="338327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Excel / Sheet 表头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95728"/>
            <a:ext cx="3337559" cy="16459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编号、时间、微信昵称、微信号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来源页面、课程方向、年级/年龄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需求摘要、当前状态、是否试听、是否报名、备注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828800"/>
            <a:ext cx="3749039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828800"/>
            <a:ext cx="109728" cy="233172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1993392"/>
            <a:ext cx="338327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微信里直接记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时间：
昵称：
微信号：
来源：
课程：
年级：
需求：
状态：
试听：
报名：
备注：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58200" y="1828800"/>
            <a:ext cx="3154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58200" y="1828800"/>
            <a:ext cx="109728" cy="2331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1993392"/>
            <a:ext cx="27889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02033"/>
                </a:solidFill>
                <a:latin typeface="Microsoft YaHei"/>
              </a:rPr>
              <a:t>一行版示例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2026-06-02 10:30 | IvyEuro学校刘老师 | sophialiu0826 | 首页 | 中文 | 5年级 | 想试听阅读写作 | 已回复 | 是 | 否 | 周末方便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480560"/>
            <a:ext cx="54406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4480560"/>
            <a:ext cx="109728" cy="1600200"/>
          </a:xfrm>
          <a:prstGeom prst="rect">
            <a:avLst/>
          </a:prstGeom>
          <a:solidFill>
            <a:srgbClr val="19C4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645152"/>
            <a:ext cx="5074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建议状态标签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47488"/>
            <a:ext cx="50292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新咨询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已回复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已预约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已报名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48056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4480560"/>
            <a:ext cx="109728" cy="160020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645152"/>
            <a:ext cx="4846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建议固定标签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047488"/>
            <a:ext cx="48006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英语 / 数学 / 中文 / 西语/加泰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试听 / 报名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微信自动抽取方案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模板 + 标签 + 结构化记录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033"/>
                </a:solidFill>
                <a:latin typeface="Microsoft YaHei"/>
              </a:rPr>
              <a:t>从聊天变成表格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5A6B7F"/>
                </a:solidFill>
                <a:latin typeface="Microsoft YaHei"/>
              </a:rPr>
              <a:t>把非结构化微信消息自动变成可统计的咨询记录。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37947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828800"/>
            <a:ext cx="109728" cy="2331720"/>
          </a:xfrm>
          <a:prstGeom prst="rect">
            <a:avLst/>
          </a:prstGeom>
          <a:solidFill>
            <a:srgbClr val="1B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2"/>
            <a:ext cx="34290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获取聊天内容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95728"/>
            <a:ext cx="3383280" cy="16459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企业微信 / 客服系统：可接官方 API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个人微信：建议人工导出后再解析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优先处理“摘要”，少保留原文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828800"/>
            <a:ext cx="37947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828800"/>
            <a:ext cx="109728" cy="2331720"/>
          </a:xfrm>
          <a:prstGeom prst="rect">
            <a:avLst/>
          </a:prstGeom>
          <a:solidFill>
            <a:srgbClr val="22A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1993392"/>
            <a:ext cx="34290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抽取关键字段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395728"/>
            <a:ext cx="3383280" cy="16459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课程方向、年级、意向程度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是否问价格 / 试听 / 时间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联系方式、来源、状态标签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1828800"/>
            <a:ext cx="3154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58200" y="1828800"/>
            <a:ext cx="109728" cy="2331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1993392"/>
            <a:ext cx="27889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落地输出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395728"/>
            <a:ext cx="2743200" cy="16459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一行结构化记录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02033"/>
                </a:solidFill>
                <a:latin typeface="Microsoft YaHei"/>
              </a:rPr>
              <a:t>Excel / Sheet / CRM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480560"/>
            <a:ext cx="544068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4480560"/>
            <a:ext cx="109728" cy="1463040"/>
          </a:xfrm>
          <a:prstGeom prst="rect">
            <a:avLst/>
          </a:prstGeom>
          <a:solidFill>
            <a:srgbClr val="19C4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45152"/>
            <a:ext cx="5074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实现方式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轻量版：正则 + 关键词 + 表格
进阶版：大模型 API 返回 JSON 模板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480560"/>
            <a:ext cx="521208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DC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480560"/>
            <a:ext cx="109728" cy="1463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645152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02033"/>
                </a:solidFill>
                <a:latin typeface="Microsoft YaHei"/>
              </a:rPr>
              <a:t>注意事项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A6B7F"/>
                </a:solidFill>
                <a:latin typeface="Microsoft YaHei"/>
              </a:rPr>
              <a:t>个人微信建议半自动人工确认；企业微信/客服系统更适合全流程接入。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692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YaHei"/>
              </a:rPr>
              <a:t>结论与下一步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182880"/>
            <a:ext cx="32918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CCD6E0"/>
                </a:solidFill>
                <a:latin typeface="Microsoft YaHei"/>
              </a:rPr>
              <a:t>交付 / 补强 / 上线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097280"/>
            <a:ext cx="10789920" cy="4937760"/>
          </a:xfrm>
          <a:prstGeom prst="roundRect">
            <a:avLst/>
          </a:prstGeom>
          <a:solidFill>
            <a:srgbClr val="111B2C"/>
          </a:solidFill>
          <a:ln>
            <a:solidFill>
              <a:srgbClr val="303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63040"/>
            <a:ext cx="9875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1. 当前网站已完成结构重建，核心业务内容已迁移。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  <a:latin typeface="Microsoft YaHei"/>
              </a:rPr>
              <a:t>2. 暑期课程已改为季节性公告，避免长期占用首页。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  <a:latin typeface="Microsoft YaHei"/>
              </a:rPr>
              <a:t>3. 微信、WhatsApp、二维码、电话、表单都已经统一。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  <a:latin typeface="Microsoft YaHei"/>
              </a:rPr>
              <a:t>4. 后续最重要的是补老师真实资料、家长真实评价和真实新闻。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  <a:latin typeface="Microsoft YaHei"/>
              </a:rPr>
              <a:t>5. 完成后即可进入最终上线前检查与部署。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CDD6E0"/>
                </a:solidFill>
                <a:latin typeface="Microsoft YaHei"/>
              </a:rPr>
              <a:t>IvyEuro Education · 网站改造分析报告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