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58368"/>
            <a:ext cx="2834640" cy="438912"/>
          </a:xfrm>
          <a:prstGeom prst="roundRect">
            <a:avLst/>
          </a:prstGeom>
          <a:solidFill>
            <a:srgbClr val="1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官网改造 / 内容迁移 / PPT汇报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IvyEuro Education
网站改造分析报告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CCD6E0"/>
                </a:solidFill>
                <a:latin typeface="Microsoft YaHei"/>
              </a:rPr>
              <a:t>从老站内容迁移到多页面招生官网，完成首页、课程、新闻、联系与移动端体验重构。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0"/>
            <a:ext cx="5120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E1E8F1"/>
                </a:solidFill>
                <a:latin typeface="Microsoft YaHei"/>
              </a:rPr>
              <a:t>项目地址：guoyunyi0417-hue / ivy-euro-education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E1E8F1"/>
                </a:solidFill>
                <a:latin typeface="Microsoft YaHei"/>
              </a:rPr>
              <a:t>报告日期：2026-06-02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E1E8F1"/>
                </a:solidFill>
                <a:latin typeface="Microsoft YaHei"/>
              </a:rPr>
              <a:t>重点：内容迁移、视觉升级、联系方式统一</a:t>
            </a:r>
          </a:p>
        </p:txBody>
      </p:sp>
      <p:sp>
        <p:nvSpPr>
          <p:cNvPr id="6" name="Oval 5"/>
          <p:cNvSpPr/>
          <p:nvPr/>
        </p:nvSpPr>
        <p:spPr>
          <a:xfrm>
            <a:off x="8458200" y="914400"/>
            <a:ext cx="2057400" cy="2057400"/>
          </a:xfrm>
          <a:prstGeom prst="ellipse">
            <a:avLst/>
          </a:prstGeom>
          <a:solidFill>
            <a:srgbClr val="121F34"/>
          </a:solidFill>
          <a:ln w="19050">
            <a:solidFill>
              <a:srgbClr val="1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Barcelonа
Online School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3703320"/>
            <a:ext cx="3474720" cy="1508760"/>
          </a:xfrm>
          <a:prstGeom prst="roundRect">
            <a:avLst/>
          </a:prstGeom>
          <a:solidFill>
            <a:srgbClr val="121F34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18120" y="3703320"/>
            <a:ext cx="109728" cy="1508760"/>
          </a:xfrm>
          <a:prstGeom prst="rect">
            <a:avLst/>
          </a:prstGeom>
          <a:solidFill>
            <a:srgbClr val="19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3867911"/>
            <a:ext cx="310896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02033"/>
                </a:solidFill>
                <a:latin typeface="Microsoft YaHei"/>
              </a:rPr>
              <a:t>改造关键词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A6B7F"/>
                </a:solidFill>
                <a:latin typeface="Microsoft YaHei"/>
              </a:rPr>
              <a:t>多页面结构 · 招生官网 · 课程表 · 新闻动态 · 微信 / WhatsApp 联系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92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项目概况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82880"/>
            <a:ext cx="3291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CCD6E0"/>
                </a:solidFill>
                <a:latin typeface="Microsoft YaHei"/>
              </a:rPr>
              <a:t>页面化结构 + 信息重组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02033"/>
                </a:solidFill>
                <a:latin typeface="Microsoft YaHei"/>
              </a:rPr>
              <a:t>为什么要改造</a:t>
            </a:r>
          </a:p>
          <a:p>
            <a:pPr>
              <a:spcBef>
                <a:spcPts val="1000"/>
              </a:spcBef>
            </a:pPr>
            <a:r>
              <a:rPr sz="1250">
                <a:solidFill>
                  <a:srgbClr val="5A6B7F"/>
                </a:solidFill>
                <a:latin typeface="Microsoft YaHei"/>
              </a:rPr>
              <a:t>旧站内容有价值，但结构过散、视觉较旧、转化入口不统一。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109728" cy="4526280"/>
          </a:xfrm>
          <a:prstGeom prst="rect">
            <a:avLst/>
          </a:prstGeom>
          <a:solidFill>
            <a:srgbClr val="1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39112"/>
            <a:ext cx="5074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02033"/>
                </a:solidFill>
                <a:latin typeface="Microsoft YaHei"/>
              </a:rPr>
              <a:t>原站主要问题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A6B7F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41448"/>
            <a:ext cx="502920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信息分散，首页与栏目缺少统一导航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老师、新闻、好评页多为占位式内容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暑期课表适合短期展示，不适合长期压在首页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联系入口偏弱，缺少微信 / WhatsApp 的明确动作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74519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874519"/>
            <a:ext cx="109728" cy="4526280"/>
          </a:xfrm>
          <a:prstGeom prst="rect">
            <a:avLst/>
          </a:prstGeom>
          <a:solidFill>
            <a:srgbClr val="22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039112"/>
            <a:ext cx="5074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02033"/>
                </a:solidFill>
                <a:latin typeface="Microsoft YaHei"/>
              </a:rPr>
              <a:t>改造目标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A6B7F"/>
                </a:solidFill>
                <a:latin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41448"/>
            <a:ext cx="502920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把老内容迁移成可持续更新的招生官网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首页突出课程、咨询、课程表和转化入口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让新闻和课程形成独立栏目，便于后续维护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补齐微信、WhatsApp、二维码和表单等联系路径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92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网站结构图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82880"/>
            <a:ext cx="3291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CCD6E0"/>
                </a:solidFill>
                <a:latin typeface="Microsoft YaHei"/>
              </a:rPr>
              <a:t>从单页展示升级为多页面官网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02033"/>
                </a:solidFill>
                <a:latin typeface="Microsoft YaHei"/>
              </a:rPr>
              <a:t>页面结构关系</a:t>
            </a:r>
          </a:p>
          <a:p>
            <a:pPr>
              <a:spcBef>
                <a:spcPts val="1000"/>
              </a:spcBef>
            </a:pPr>
            <a:r>
              <a:rPr sz="1250">
                <a:solidFill>
                  <a:srgbClr val="5A6B7F"/>
                </a:solidFill>
                <a:latin typeface="Microsoft YaHei"/>
              </a:rPr>
              <a:t>首页是转化入口，栏目页负责内容承接，新闻详情用于深度阅读。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783080"/>
            <a:ext cx="2697480" cy="658368"/>
          </a:xfrm>
          <a:prstGeom prst="roundRect">
            <a:avLst/>
          </a:prstGeom>
          <a:solidFill>
            <a:srgbClr val="EBF3FF"/>
          </a:solidFill>
          <a:ln>
            <a:solidFill>
              <a:srgbClr val="1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400" b="1">
                <a:solidFill>
                  <a:srgbClr val="102033"/>
                </a:solidFill>
                <a:latin typeface="Microsoft YaHei"/>
              </a:rPr>
              <a:t>首页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1325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102033"/>
                </a:solidFill>
                <a:latin typeface="Microsoft YaHei"/>
              </a:rPr>
              <a:t>服务项目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207007" y="2441448"/>
            <a:ext cx="4828033" cy="301752"/>
          </a:xfrm>
          <a:prstGeom prst="line">
            <a:avLst/>
          </a:prstGeom>
          <a:ln w="20320">
            <a:solidFill>
              <a:srgbClr val="919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40280" y="2743200"/>
            <a:ext cx="1325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102033"/>
                </a:solidFill>
                <a:latin typeface="Microsoft YaHei"/>
              </a:rPr>
              <a:t>关于我们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898648" y="2441448"/>
            <a:ext cx="3136392" cy="301752"/>
          </a:xfrm>
          <a:prstGeom prst="line">
            <a:avLst/>
          </a:prstGeom>
          <a:ln w="20320">
            <a:solidFill>
              <a:srgbClr val="919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931920" y="2743200"/>
            <a:ext cx="1325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102033"/>
                </a:solidFill>
                <a:latin typeface="Microsoft YaHei"/>
              </a:rPr>
              <a:t>老师简介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4590288" y="2441448"/>
            <a:ext cx="1444752" cy="301752"/>
          </a:xfrm>
          <a:prstGeom prst="line">
            <a:avLst/>
          </a:prstGeom>
          <a:ln w="20320">
            <a:solidFill>
              <a:srgbClr val="919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23560" y="2743200"/>
            <a:ext cx="1325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102033"/>
                </a:solidFill>
                <a:latin typeface="Microsoft YaHei"/>
              </a:rPr>
              <a:t>课程表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2441448"/>
            <a:ext cx="246888" cy="301752"/>
          </a:xfrm>
          <a:prstGeom prst="line">
            <a:avLst/>
          </a:prstGeom>
          <a:ln w="20320">
            <a:solidFill>
              <a:srgbClr val="919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0" y="2743200"/>
            <a:ext cx="1325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102033"/>
                </a:solidFill>
                <a:latin typeface="Microsoft YaHei"/>
              </a:rPr>
              <a:t>家长好评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2441448"/>
            <a:ext cx="1938528" cy="301752"/>
          </a:xfrm>
          <a:prstGeom prst="line">
            <a:avLst/>
          </a:prstGeom>
          <a:ln w="20320">
            <a:solidFill>
              <a:srgbClr val="919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06840" y="2743200"/>
            <a:ext cx="1325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102033"/>
                </a:solidFill>
                <a:latin typeface="Microsoft YaHei"/>
              </a:rPr>
              <a:t>新闻动态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35040" y="2441448"/>
            <a:ext cx="3630168" cy="301752"/>
          </a:xfrm>
          <a:prstGeom prst="line">
            <a:avLst/>
          </a:prstGeom>
          <a:ln w="20320">
            <a:solidFill>
              <a:srgbClr val="919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698480" y="2743200"/>
            <a:ext cx="1325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102033"/>
                </a:solidFill>
                <a:latin typeface="Microsoft YaHei"/>
              </a:rPr>
              <a:t>联系我们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2441448"/>
            <a:ext cx="5321808" cy="301752"/>
          </a:xfrm>
          <a:prstGeom prst="line">
            <a:avLst/>
          </a:prstGeom>
          <a:ln w="20320">
            <a:solidFill>
              <a:srgbClr val="919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0" y="3886200"/>
            <a:ext cx="1783080" cy="566928"/>
          </a:xfrm>
          <a:prstGeom prst="roundRect">
            <a:avLst/>
          </a:prstGeom>
          <a:solidFill>
            <a:srgbClr val="EEFAF5"/>
          </a:solidFill>
          <a:ln>
            <a:solidFill>
              <a:srgbClr val="22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102033"/>
                </a:solidFill>
                <a:latin typeface="Microsoft YaHei"/>
              </a:rPr>
              <a:t>新闻详情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92640" y="3337560"/>
            <a:ext cx="320040" cy="548640"/>
          </a:xfrm>
          <a:prstGeom prst="line">
            <a:avLst/>
          </a:prstGeom>
          <a:ln w="20320">
            <a:solidFill>
              <a:srgbClr val="22A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5800" y="4892040"/>
            <a:ext cx="1088136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02033"/>
                </a:solidFill>
                <a:latin typeface="Microsoft YaHei"/>
              </a:rPr>
              <a:t>结构原则：长期稳定信息放在首页和栏目页，季节性内容放在课程表 / 公告位，新闻栏目支持后续持续更新。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92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老资料内容评估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82880"/>
            <a:ext cx="3291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CCD6E0"/>
                </a:solidFill>
                <a:latin typeface="Microsoft YaHei"/>
              </a:rPr>
              <a:t>保留 / 替换 / 补强 / 删除四类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02033"/>
                </a:solidFill>
                <a:latin typeface="Microsoft YaHei"/>
              </a:rPr>
              <a:t>内容处置图</a:t>
            </a:r>
          </a:p>
          <a:p>
            <a:pPr>
              <a:spcBef>
                <a:spcPts val="1000"/>
              </a:spcBef>
            </a:pPr>
            <a:r>
              <a:rPr sz="1250">
                <a:solidFill>
                  <a:srgbClr val="5A6B7F"/>
                </a:solidFill>
                <a:latin typeface="Microsoft YaHei"/>
              </a:rPr>
              <a:t>先保留业务信息，再替换模板句，最后补强真实案例。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109728" cy="1691640"/>
          </a:xfrm>
          <a:prstGeom prst="rect">
            <a:avLst/>
          </a:prstGeom>
          <a:solidFill>
            <a:srgbClr val="22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02033"/>
                </a:solidFill>
                <a:latin typeface="Microsoft YaHei"/>
              </a:rPr>
              <a:t>保留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A6B7F"/>
                </a:solidFill>
                <a:latin typeface="Microsoft YaHei"/>
              </a:rPr>
              <a:t>机构名称、地址、电话、营业时间
课程大类、微信 / WhatsApp、二维码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828800"/>
            <a:ext cx="109728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93392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02033"/>
                </a:solidFill>
                <a:latin typeface="Microsoft YaHei"/>
              </a:rPr>
              <a:t>替换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A6B7F"/>
                </a:solidFill>
                <a:latin typeface="Microsoft YaHei"/>
              </a:rPr>
              <a:t>老师占位卡、家长好评模板句
新闻/文章标题、长期首页暑期大块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16052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4160520"/>
            <a:ext cx="109728" cy="1691640"/>
          </a:xfrm>
          <a:prstGeom prst="rect">
            <a:avLst/>
          </a:prstGeom>
          <a:solidFill>
            <a:srgbClr val="1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25112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02033"/>
                </a:solidFill>
                <a:latin typeface="Microsoft YaHei"/>
              </a:rPr>
              <a:t>补强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A6B7F"/>
                </a:solidFill>
                <a:latin typeface="Microsoft YaHei"/>
              </a:rPr>
              <a:t>真实老师介绍、真实家长评价
学习成果、活动照片、真实通知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16052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4160520"/>
            <a:ext cx="109728" cy="1691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325112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02033"/>
                </a:solidFill>
                <a:latin typeface="Microsoft YaHei"/>
              </a:rPr>
              <a:t>删除 / 临时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A6B7F"/>
                </a:solidFill>
                <a:latin typeface="Microsoft YaHei"/>
              </a:rPr>
              <a:t>过期的暑期公告、首页大块课表
没有实际内容支撑的草稿句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989320"/>
            <a:ext cx="10881360" cy="502920"/>
          </a:xfrm>
          <a:prstGeom prst="roundRect">
            <a:avLst/>
          </a:prstGeom>
          <a:solidFill>
            <a:srgbClr val="F2F6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>
                <a:solidFill>
                  <a:srgbClr val="102033"/>
                </a:solidFill>
                <a:latin typeface="Microsoft YaHei"/>
              </a:rPr>
              <a:t>判断标准：有事实依据的保留，有营销价值的润色，没有实际内容支撑的占位句要替换。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92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首页优势图示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82880"/>
            <a:ext cx="3291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CCD6E0"/>
                </a:solidFill>
                <a:latin typeface="Microsoft YaHei"/>
              </a:rPr>
              <a:t>视觉升级 + 转化入口 + 季节公告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02033"/>
                </a:solidFill>
                <a:latin typeface="Microsoft YaHei"/>
              </a:rPr>
              <a:t>新首页的优势</a:t>
            </a:r>
          </a:p>
          <a:p>
            <a:pPr>
              <a:spcBef>
                <a:spcPts val="1000"/>
              </a:spcBef>
            </a:pPr>
            <a:r>
              <a:rPr sz="1250">
                <a:solidFill>
                  <a:srgbClr val="5A6B7F"/>
                </a:solidFill>
                <a:latin typeface="Microsoft YaHei"/>
              </a:rPr>
              <a:t>首页不再只是信息堆砌，而是能承接咨询和转化。</a:t>
            </a:r>
          </a:p>
        </p:txBody>
      </p:sp>
      <p:pic>
        <p:nvPicPr>
          <p:cNvPr id="6" name="Picture 5" descr="hom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812280" cy="420090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43800" y="1783080"/>
            <a:ext cx="3977639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43800" y="1783080"/>
            <a:ext cx="109728" cy="1143000"/>
          </a:xfrm>
          <a:prstGeom prst="rect">
            <a:avLst/>
          </a:prstGeom>
          <a:solidFill>
            <a:srgbClr val="1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47672"/>
            <a:ext cx="3611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02033"/>
                </a:solidFill>
                <a:latin typeface="Microsoft YaHei"/>
              </a:rPr>
              <a:t>优势 1：首屏更清晰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A6B7F"/>
                </a:solidFill>
                <a:latin typeface="Microsoft YaHei"/>
              </a:rPr>
              <a:t>把学校定位、课程亮点、免费测试和联系入口集中到首页首屏。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063240"/>
            <a:ext cx="3977639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3063240"/>
            <a:ext cx="109728" cy="1143000"/>
          </a:xfrm>
          <a:prstGeom prst="rect">
            <a:avLst/>
          </a:prstGeom>
          <a:solidFill>
            <a:srgbClr val="22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227832"/>
            <a:ext cx="3611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02033"/>
                </a:solidFill>
                <a:latin typeface="Microsoft YaHei"/>
              </a:rPr>
              <a:t>优势 2：视觉更像官网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A6B7F"/>
                </a:solidFill>
                <a:latin typeface="Microsoft YaHei"/>
              </a:rPr>
              <a:t>通过大图、卡片和统一配色，形成更强的机构品牌感。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343400"/>
            <a:ext cx="3977639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4343400"/>
            <a:ext cx="109728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507992"/>
            <a:ext cx="3611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02033"/>
                </a:solidFill>
                <a:latin typeface="Microsoft YaHei"/>
              </a:rPr>
              <a:t>优势 3：临时内容可自动消失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A6B7F"/>
                </a:solidFill>
                <a:latin typeface="Microsoft YaHei"/>
              </a:rPr>
              <a:t>暑期班只做季节公告，到期后自动隐藏，不污染首页长期信息。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5623560"/>
            <a:ext cx="3977639" cy="868680"/>
          </a:xfrm>
          <a:prstGeom prst="roundRect">
            <a:avLst/>
          </a:prstGeom>
          <a:solidFill>
            <a:srgbClr val="F4F7F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5623560"/>
            <a:ext cx="109728" cy="868680"/>
          </a:xfrm>
          <a:prstGeom prst="rect">
            <a:avLst/>
          </a:prstGeom>
          <a:solidFill>
            <a:srgbClr val="19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5788152"/>
            <a:ext cx="361187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02033"/>
                </a:solidFill>
                <a:latin typeface="Microsoft YaHei"/>
              </a:rPr>
              <a:t>优势 4：移动端体验更统一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A6B7F"/>
                </a:solidFill>
                <a:latin typeface="Microsoft YaHei"/>
              </a:rPr>
              <a:t>导航、联系方式、新闻栏目都支持手机浏览。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92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联系通道图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82880"/>
            <a:ext cx="3291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CCD6E0"/>
                </a:solidFill>
                <a:latin typeface="Microsoft YaHei"/>
              </a:rPr>
              <a:t>微信优先，WhatsApp 备用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02033"/>
                </a:solidFill>
                <a:latin typeface="Microsoft YaHei"/>
              </a:rPr>
              <a:t>家长如何联系学校</a:t>
            </a:r>
          </a:p>
          <a:p>
            <a:pPr>
              <a:spcBef>
                <a:spcPts val="1000"/>
              </a:spcBef>
            </a:pPr>
            <a:r>
              <a:rPr sz="1250">
                <a:solidFill>
                  <a:srgbClr val="5A6B7F"/>
                </a:solidFill>
                <a:latin typeface="Microsoft YaHei"/>
              </a:rPr>
              <a:t>把核心联系方式做成明确入口，减少家长的操作成本。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1965960" cy="731520"/>
          </a:xfrm>
          <a:prstGeom prst="roundRect">
            <a:avLst/>
          </a:prstGeom>
          <a:solidFill>
            <a:srgbClr val="F1FAF1"/>
          </a:solidFill>
          <a:ln>
            <a:solidFill>
              <a:srgbClr val="22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102033"/>
                </a:solidFill>
                <a:latin typeface="Microsoft YaHei"/>
              </a:rPr>
              <a:t>微信昵称
IvyEuro学校刘老师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148840"/>
            <a:ext cx="1828800" cy="731520"/>
          </a:xfrm>
          <a:prstGeom prst="roundRect">
            <a:avLst/>
          </a:prstGeom>
          <a:solidFill>
            <a:srgbClr val="F1FAF1"/>
          </a:solidFill>
          <a:ln>
            <a:solidFill>
              <a:srgbClr val="22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102033"/>
                </a:solidFill>
                <a:latin typeface="Microsoft YaHei"/>
              </a:rPr>
              <a:t>微信号
sophialiu0826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148840"/>
            <a:ext cx="1463040" cy="731520"/>
          </a:xfrm>
          <a:prstGeom prst="roundRect">
            <a:avLst/>
          </a:prstGeom>
          <a:solidFill>
            <a:srgbClr val="F1FAF1"/>
          </a:solidFill>
          <a:ln>
            <a:solidFill>
              <a:srgbClr val="22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102033"/>
                </a:solidFill>
                <a:latin typeface="Microsoft YaHei"/>
              </a:rPr>
              <a:t>二维码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148840"/>
            <a:ext cx="1737360" cy="731520"/>
          </a:xfrm>
          <a:prstGeom prst="roundRect">
            <a:avLst/>
          </a:prstGeom>
          <a:solidFill>
            <a:srgbClr val="F0F9FF"/>
          </a:solidFill>
          <a:ln>
            <a:solidFill>
              <a:srgbClr val="1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102033"/>
                </a:solidFill>
                <a:latin typeface="Microsoft YaHei"/>
              </a:rPr>
              <a:t>WhatsApp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2148840"/>
            <a:ext cx="1554480" cy="731520"/>
          </a:xfrm>
          <a:prstGeom prst="roundRect">
            <a:avLst/>
          </a:prstGeom>
          <a:solidFill>
            <a:srgbClr val="F0F9FF"/>
          </a:solidFill>
          <a:ln>
            <a:solidFill>
              <a:srgbClr val="1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102033"/>
                </a:solidFill>
                <a:latin typeface="Microsoft YaHei"/>
              </a:rPr>
              <a:t>电话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148840"/>
            <a:ext cx="1051560" cy="731520"/>
          </a:xfrm>
          <a:prstGeom prst="roundRect">
            <a:avLst/>
          </a:prstGeom>
          <a:solidFill>
            <a:srgbClr val="F0F9FF"/>
          </a:solidFill>
          <a:ln>
            <a:solidFill>
              <a:srgbClr val="1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102033"/>
                </a:solidFill>
                <a:latin typeface="Microsoft YaHei"/>
              </a:rPr>
              <a:t>表单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2514600"/>
            <a:ext cx="256032" cy="0"/>
          </a:xfrm>
          <a:prstGeom prst="line">
            <a:avLst/>
          </a:prstGeom>
          <a:ln w="20320">
            <a:solidFill>
              <a:srgbClr val="22A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80" y="2514600"/>
            <a:ext cx="256032" cy="0"/>
          </a:xfrm>
          <a:prstGeom prst="line">
            <a:avLst/>
          </a:prstGeom>
          <a:ln w="20320">
            <a:solidFill>
              <a:srgbClr val="22A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92240" y="2514600"/>
            <a:ext cx="201168" cy="0"/>
          </a:xfrm>
          <a:prstGeom prst="line">
            <a:avLst/>
          </a:prstGeom>
          <a:ln w="20320">
            <a:solidFill>
              <a:srgbClr val="1B6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503920" y="2514600"/>
            <a:ext cx="201168" cy="0"/>
          </a:xfrm>
          <a:prstGeom prst="line">
            <a:avLst/>
          </a:prstGeom>
          <a:ln w="20320">
            <a:solidFill>
              <a:srgbClr val="1B6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2514600"/>
            <a:ext cx="201168" cy="0"/>
          </a:xfrm>
          <a:prstGeom prst="line">
            <a:avLst/>
          </a:prstGeom>
          <a:ln w="20320">
            <a:solidFill>
              <a:srgbClr val="1B6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5800" y="3246120"/>
            <a:ext cx="3657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246120"/>
            <a:ext cx="109728" cy="2468880"/>
          </a:xfrm>
          <a:prstGeom prst="rect">
            <a:avLst/>
          </a:prstGeom>
          <a:solidFill>
            <a:srgbClr val="22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10712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02033"/>
                </a:solidFill>
                <a:latin typeface="Microsoft YaHei"/>
              </a:rPr>
              <a:t>联系方式建议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A6B7F"/>
                </a:solidFill>
                <a:latin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324612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微信作为主入口，适合家长快速沟通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WhatsApp 作为备用通道，适合海外家长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二维码用于扫码加好友，减少跳转成本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246120"/>
            <a:ext cx="3657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3246120"/>
            <a:ext cx="109728" cy="2468880"/>
          </a:xfrm>
          <a:prstGeom prst="rect">
            <a:avLst/>
          </a:prstGeom>
          <a:solidFill>
            <a:srgbClr val="1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410712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02033"/>
                </a:solidFill>
                <a:latin typeface="Microsoft YaHei"/>
              </a:rPr>
              <a:t>页面呈现方式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A6B7F"/>
                </a:solidFill>
                <a:latin typeface="Microsoft YaHe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813048"/>
            <a:ext cx="324612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首页底部做快捷按钮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联系页放完整说明与二维码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提交预约后提示优先通过微信 / WhatsApp 联系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246120"/>
            <a:ext cx="31089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66760" y="3246120"/>
            <a:ext cx="109728" cy="2468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3410712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02033"/>
                </a:solidFill>
                <a:latin typeface="Microsoft YaHei"/>
              </a:rPr>
              <a:t>当前已填信息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A6B7F"/>
                </a:solidFill>
                <a:latin typeface="Microsoft YaHei"/>
              </a:rPr>
              <a:t>微信昵称：IvyEuro学校刘老师
微信号：sophialiu0826
WhatsApp：+34-625-627-022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92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待补强内容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82880"/>
            <a:ext cx="3291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CCD6E0"/>
                </a:solidFill>
                <a:latin typeface="Microsoft YaHei"/>
              </a:rPr>
              <a:t>哪些内容还需要真实材料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02033"/>
                </a:solidFill>
                <a:latin typeface="Microsoft YaHei"/>
              </a:rPr>
              <a:t>后续优先级</a:t>
            </a:r>
          </a:p>
          <a:p>
            <a:pPr>
              <a:spcBef>
                <a:spcPts val="1000"/>
              </a:spcBef>
            </a:pPr>
            <a:r>
              <a:rPr sz="1250">
                <a:solidFill>
                  <a:srgbClr val="5A6B7F"/>
                </a:solidFill>
                <a:latin typeface="Microsoft YaHei"/>
              </a:rPr>
              <a:t>现在结构已齐，下一步重点是把模板句换成真实内容。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109728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2377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02033"/>
                </a:solidFill>
                <a:latin typeface="Microsoft YaHei"/>
              </a:rPr>
              <a:t>优先级高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A6B7F"/>
                </a:solidFill>
                <a:latin typeface="Microsoft YaHei"/>
              </a:rPr>
              <a:t>老师真实照片、真实资历、擅长科目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82880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1828800"/>
            <a:ext cx="109728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993392"/>
            <a:ext cx="2377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02033"/>
                </a:solidFill>
                <a:latin typeface="Microsoft YaHei"/>
              </a:rPr>
              <a:t>优先级高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A6B7F"/>
                </a:solidFill>
                <a:latin typeface="Microsoft YaHei"/>
              </a:rPr>
              <a:t>家长真实评价、案例、学习前后对比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82880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828800"/>
            <a:ext cx="10972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993392"/>
            <a:ext cx="2377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02033"/>
                </a:solidFill>
                <a:latin typeface="Microsoft YaHei"/>
              </a:rPr>
              <a:t>优先级中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A6B7F"/>
                </a:solidFill>
                <a:latin typeface="Microsoft YaHei"/>
              </a:rPr>
              <a:t>新闻动态、活动通知、开班消息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182880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64040" y="1828800"/>
            <a:ext cx="10972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993392"/>
            <a:ext cx="1691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02033"/>
                </a:solidFill>
                <a:latin typeface="Microsoft YaHei"/>
              </a:rPr>
              <a:t>优先级中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A6B7F"/>
                </a:solidFill>
                <a:latin typeface="Microsoft YaHei"/>
              </a:rPr>
              <a:t>课程成果表达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54406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657600"/>
            <a:ext cx="109728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22191"/>
            <a:ext cx="507492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02033"/>
                </a:solidFill>
                <a:latin typeface="Microsoft YaHei"/>
              </a:rPr>
              <a:t>建议替换的占位句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A6B7F"/>
                </a:solidFill>
                <a:latin typeface="Microsoft Ya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24528"/>
            <a:ext cx="5029200" cy="14173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“这里可以展示……”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“可用于展示……”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“后续可继续补充……”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65760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657600"/>
            <a:ext cx="109728" cy="2103120"/>
          </a:xfrm>
          <a:prstGeom prst="rect">
            <a:avLst/>
          </a:prstGeom>
          <a:solidFill>
            <a:srgbClr val="22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822191"/>
            <a:ext cx="484632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02033"/>
                </a:solidFill>
                <a:latin typeface="Microsoft YaHei"/>
              </a:rPr>
              <a:t>建议保留的真实信息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A6B7F"/>
                </a:solidFill>
                <a:latin typeface="Microsoft Ya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224528"/>
            <a:ext cx="4800600" cy="14173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机构名、地址、电话、营业时间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课程大类与联系方式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课程表页和联系页结构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92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微信数据模板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82880"/>
            <a:ext cx="3291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CCD6E0"/>
                </a:solidFill>
                <a:latin typeface="Microsoft YaHei"/>
              </a:rPr>
              <a:t>只记业务字段，不存完整聊天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02033"/>
                </a:solidFill>
                <a:latin typeface="Microsoft YaHei"/>
              </a:rPr>
              <a:t>咨询记录与隐私规则</a:t>
            </a:r>
          </a:p>
          <a:p>
            <a:pPr>
              <a:spcBef>
                <a:spcPts val="1000"/>
              </a:spcBef>
            </a:pPr>
            <a:r>
              <a:rPr sz="1250">
                <a:solidFill>
                  <a:srgbClr val="5A6B7F"/>
                </a:solidFill>
                <a:latin typeface="Microsoft YaHei"/>
              </a:rPr>
              <a:t>微信是主入口，但真正要沉淀的是结构化摘要，不是聊天原文。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7033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109728" cy="2240280"/>
          </a:xfrm>
          <a:prstGeom prst="rect">
            <a:avLst/>
          </a:prstGeom>
          <a:solidFill>
            <a:srgbClr val="22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3337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02033"/>
                </a:solidFill>
                <a:latin typeface="Microsoft YaHei"/>
              </a:rPr>
              <a:t>咨询记录字段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A6B7F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3291839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时间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微信昵称 / 微信号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来源页面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课程方向、年级、需求摘要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7033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109728" cy="2240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93392"/>
            <a:ext cx="3337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02033"/>
                </a:solidFill>
                <a:latin typeface="Microsoft YaHei"/>
              </a:rPr>
              <a:t>隐私规则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A6B7F"/>
                </a:solidFill>
                <a:latin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95728"/>
            <a:ext cx="3291839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不存完整聊天原文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不长期保留截图和语音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孩子学校、班级等敏感信息少存或匿名化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828800"/>
            <a:ext cx="32461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828800"/>
            <a:ext cx="109728" cy="2240280"/>
          </a:xfrm>
          <a:prstGeom prst="rect">
            <a:avLst/>
          </a:prstGeom>
          <a:solidFill>
            <a:srgbClr val="1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993392"/>
            <a:ext cx="28803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02033"/>
                </a:solidFill>
                <a:latin typeface="Microsoft YaHei"/>
              </a:rPr>
              <a:t>每周复盘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A6B7F"/>
                </a:solidFill>
                <a:latin typeface="Microsoft YaHe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395728"/>
            <a:ext cx="2834639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哪个课程最多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哪个入口最有效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02033"/>
                </a:solidFill>
                <a:latin typeface="Microsoft YaHei"/>
              </a:rPr>
              <a:t>微信 / WhatsApp 谁转化更高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389120"/>
            <a:ext cx="1097280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4389120"/>
            <a:ext cx="109728" cy="1051560"/>
          </a:xfrm>
          <a:prstGeom prst="rect">
            <a:avLst/>
          </a:prstGeom>
          <a:solidFill>
            <a:srgbClr val="19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553712"/>
            <a:ext cx="106070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02033"/>
                </a:solidFill>
                <a:latin typeface="Microsoft YaHei"/>
              </a:rPr>
              <a:t>最实用的原则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A6B7F"/>
                </a:solidFill>
                <a:latin typeface="Microsoft YaHei"/>
              </a:rPr>
              <a:t>记录结果，不记录过程；保留摘要，不保留全文；看汇总，不看隐私原文。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623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>
                <a:solidFill>
                  <a:srgbClr val="5A6B7F"/>
                </a:solidFill>
                <a:latin typeface="Microsoft YaHei"/>
              </a:rPr>
              <a:t>建议形式：Excel / Google Sheet / 企业微信后续接入。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92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结论与下一步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82880"/>
            <a:ext cx="3291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CCD6E0"/>
                </a:solidFill>
                <a:latin typeface="Microsoft YaHei"/>
              </a:rPr>
              <a:t>交付 / 补强 / 上线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4937760"/>
          </a:xfrm>
          <a:prstGeom prst="roundRect">
            <a:avLst/>
          </a:prstGeom>
          <a:solidFill>
            <a:srgbClr val="111B2C"/>
          </a:solidFill>
          <a:ln>
            <a:solidFill>
              <a:srgbClr val="30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9875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1. 当前网站已完成结构重建，核心业务内容已迁移。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2. 暑期课程已改为季节性公告，避免长期占用首页。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3. 微信、WhatsApp、二维码、电话、表单都已经统一。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4. 后续最重要的是补老师真实资料、家长真实评价和真实新闻。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5. 完成后即可进入最终上线前检查与部署。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DD6E0"/>
                </a:solidFill>
                <a:latin typeface="Microsoft YaHei"/>
              </a:rPr>
              <a:t>IvyEuro Education · 网站改造分析报告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